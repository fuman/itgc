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0"/>
            <a:ext cx="73152" cy="685800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1E6FC8"/>
                </a:solidFill>
                <a:latin typeface="맑은 고딕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맑은 고딕"/>
              </a:rPr>
              <a:t>그룹사 ITGC 포털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B4E8"/>
                </a:solidFill>
                <a:latin typeface="맑은 고딕"/>
              </a:rPr>
              <a:t>IT General Controls Management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4572000" cy="54864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8F0"/>
                </a:solidFill>
                <a:latin typeface="맑은 고딕"/>
              </a:rPr>
              <a:t>COSO 2013 프레임워크 기반
위험관리 · 통제평가 · 운영평가 통합 플랫폼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0B0"/>
                </a:solidFill>
                <a:latin typeface="맑은 고딕"/>
              </a:rPr>
              <a:t>Version 1.0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1463040"/>
            <a:ext cx="2194560" cy="56692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0" y="1463040"/>
            <a:ext cx="502920" cy="56692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4" y="152704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536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통제 환경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148839"/>
            <a:ext cx="2194560" cy="56692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2148839"/>
            <a:ext cx="502920" cy="5669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4" y="221284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22199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위험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834639"/>
            <a:ext cx="2194560" cy="56692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834639"/>
            <a:ext cx="502920" cy="56692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4" y="289864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90779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통제 활동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3520439"/>
            <a:ext cx="2194560" cy="56692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3520439"/>
            <a:ext cx="502920" cy="566928"/>
          </a:xfrm>
          <a:prstGeom prst="rect">
            <a:avLst/>
          </a:prstGeom>
          <a:solidFill>
            <a:srgbClr val="8B2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358444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59359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정보·소통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4206240"/>
            <a:ext cx="2194560" cy="56692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4206240"/>
            <a:ext cx="502920" cy="56692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18904" y="427024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2793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모니터링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27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472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시스템 구축 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764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도입 배경 및 핵심 가치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317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4414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317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시스템 개요 및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7919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기술 스택 및 화면 구성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461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3558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461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3009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대시보드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59359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COSO 종합 현황 및 KPI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605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2702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605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2153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위험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4507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위험 식별 · 평가 · 대응 · 매트릭스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749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1846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0749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51297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통제 활동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54223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통제 설계 · 운영 · 매핑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4173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527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14173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1472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운영평가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1764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평가 계획 · 실행 · 결과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3317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4414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23317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2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발견사항 &amp; 개선조치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267919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미비점 등록 및 Kanban 추적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2461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3558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2461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76872" y="33009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보고서 &amp; 시스템 설정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359359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종합 보고서 · 조직 · 사용자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160520"/>
            <a:ext cx="594360" cy="65836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2702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4160520"/>
            <a:ext cx="5303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76872" y="42153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기대 효과 및 활용 방안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872" y="4507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맑은 고딕"/>
              </a:rPr>
              <a:t>도입 효과 및 향후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01  시스템 구축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왜 ITGC 포털이 필요한가?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9496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⚠  도입 전 문제점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1010"/>
                </a:solidFill>
                <a:latin typeface="맑은 고딕"/>
              </a:rPr>
              <a:t>✕  엑셀/수작업 기반 통제 관리 → 버전 불일치, 누락 위험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1010"/>
                </a:solidFill>
                <a:latin typeface="맑은 고딕"/>
              </a:rPr>
              <a:t>✕  COSO 구성요소 간 연계 부재 → 종합적 위험 파악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609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1010"/>
                </a:solidFill>
                <a:latin typeface="맑은 고딕"/>
              </a:rPr>
              <a:t>✕  운영평가 결과 추적 및 발견사항 관리 체계 미흡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1010"/>
                </a:solidFill>
                <a:latin typeface="맑은 고딕"/>
              </a:rPr>
              <a:t>✕  감사·규제 대응을 위한 통합 보고 기능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6FC8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371600"/>
            <a:ext cx="539496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✔  ITGC 포털 도입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6030"/>
                </a:solidFill>
                <a:latin typeface="맑은 고딕"/>
              </a:rPr>
              <a:t>✓  COSO 기반 통합 플랫폼으로 위험-통제-평가 일원화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67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6030"/>
                </a:solidFill>
                <a:latin typeface="맑은 고딕"/>
              </a:rPr>
              <a:t>✓  5×5 리스크 매트릭스로 위험 수준 시각화 및 우선순위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609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6030"/>
                </a:solidFill>
                <a:latin typeface="맑은 고딕"/>
              </a:rPr>
              <a:t>✓  운영평가 계획~결과 자동 연계 및 샘플링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540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6030"/>
                </a:solidFill>
                <a:latin typeface="맑은 고딕"/>
              </a:rPr>
              <a:t>✓  발견사항 Kanban 추적 + 실시간 대시보드 보고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3703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70332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831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🔍  가시성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4A"/>
                </a:solidFill>
                <a:latin typeface="맑은 고딕"/>
              </a:rPr>
              <a:t>모든 IT 위험과 통제 현황을
실시간으로 파악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3794760"/>
            <a:ext cx="3703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3794760"/>
            <a:ext cx="370332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831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⚡  효율성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2519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4A"/>
                </a:solidFill>
                <a:latin typeface="맑은 고딕"/>
              </a:rPr>
              <a:t>수작업 제거 및 프로세스
자동화로 업무 부담 감소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3794760"/>
            <a:ext cx="3703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38744" y="3794760"/>
            <a:ext cx="370332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1" y="3831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📋  준거성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2519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4A"/>
                </a:solidFill>
                <a:latin typeface="맑은 고딕"/>
              </a:rPr>
              <a:t>COSO 2013 기준 충족 및
감사·규제 대응 강화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02  시스템 개요 및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기술 스택, 메뉴 구성, 사용자 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65760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65760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🛠  기술 스택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01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Vue 3  ·  DevExtreme Vue  ·  Pinia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Spring Boot 3.2  ·  MyBatis  ·  HikariCP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PostgreSQL 14+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73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73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Spring Security  ·  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307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730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Vite (FE)  ·  Maven (BE)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417320"/>
            <a:ext cx="411480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417320"/>
            <a:ext cx="4114800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463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🗂  화면 메뉴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90195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📊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40280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⚠  위험관리  (식별/평가/대응/매트릭스)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57860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🛡  통제활동  (목록/설계/매핑)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91693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📝 운영평가  (계획/실행/결과)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5526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🔎 발견사항  (목록/개선조치 Kanban)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5935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📄 보고서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931920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⚙  시스템설정  (조직/사용자/COSO)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1417320"/>
            <a:ext cx="32461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1417320"/>
            <a:ext cx="324612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👥  사용자 역할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1920240"/>
            <a:ext cx="82296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1965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9751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전체 시스템 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450592"/>
            <a:ext cx="82296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496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505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위험·통제 계획 수립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2980944"/>
            <a:ext cx="82296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02666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EVALUATOR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0358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운영평가 수행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3511296"/>
            <a:ext cx="82296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55701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결과 조회 전용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480560"/>
            <a:ext cx="115671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5171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시스템 구성도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983480"/>
            <a:ext cx="2468880" cy="86868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04748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Browser
(Vue 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4983480"/>
            <a:ext cx="2468880" cy="8686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504748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API Gateway
(Spring Boot)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983480"/>
            <a:ext cx="2468880" cy="868680"/>
          </a:xfrm>
          <a:prstGeom prst="rect">
            <a:avLst/>
          </a:prstGeom>
          <a:solidFill>
            <a:srgbClr val="2A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59" y="504748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MyBatis
(SQL Mapper)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4983480"/>
            <a:ext cx="2468880" cy="868680"/>
          </a:xfrm>
          <a:prstGeom prst="rect">
            <a:avLst/>
          </a:prstGeom>
          <a:solidFill>
            <a:srgbClr val="6B2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504748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PostgreSQL
(DB)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5166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5166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166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03 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COSO 종합 현황 · KPI · 위험 분포 · 최근 발견사항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전체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27889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164592" cy="114300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1901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맑은 고딕"/>
              </a:rPr>
              <a:t>총 통제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1762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6FC8"/>
                </a:solidFill>
                <a:latin typeface="맑은 고딕"/>
              </a:rPr>
              <a:t>124건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624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맑은 고딕"/>
              </a:rPr>
              <a:t>효과적 89건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828800"/>
            <a:ext cx="27889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828800"/>
            <a:ext cx="164592" cy="114300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901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맑은 고딕"/>
              </a:rPr>
              <a:t>고위험 건수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762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92B2B"/>
                </a:solidFill>
                <a:latin typeface="맑은 고딕"/>
              </a:rPr>
              <a:t>8건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624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맑은 고딕"/>
              </a:rPr>
              <a:t>심각 2 · 높음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27889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164592" cy="1143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901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맑은 고딕"/>
              </a:rPr>
              <a:t>미결 발견사항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1762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6A1A"/>
                </a:solidFill>
                <a:latin typeface="맑은 고딕"/>
              </a:rPr>
              <a:t>13건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624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맑은 고딕"/>
              </a:rPr>
              <a:t>기한초과 3건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27889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828800"/>
            <a:ext cx="164592" cy="11430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901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맑은 고딕"/>
              </a:rPr>
              <a:t>평가 완료율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1762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9E5A"/>
                </a:solidFill>
                <a:latin typeface="맑은 고딕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624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맑은 고딕"/>
              </a:rPr>
              <a:t>2분기 기준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154680"/>
            <a:ext cx="7086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00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COSO 구성요소별 점수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통제환경 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694176"/>
            <a:ext cx="4114800" cy="21031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31720" y="3694176"/>
            <a:ext cx="3374136" cy="210312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65760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82점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233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위험평가 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4059936"/>
            <a:ext cx="4114800" cy="21031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31720" y="4059936"/>
            <a:ext cx="3086100" cy="21031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02336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맑은 고딕"/>
              </a:rPr>
              <a:t>75점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891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통제활동 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425696"/>
            <a:ext cx="4114800" cy="21031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31720" y="4425696"/>
            <a:ext cx="3621024" cy="21031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38912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88점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548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정보소통 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31720" y="4791456"/>
            <a:ext cx="4114800" cy="21031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31720" y="4791456"/>
            <a:ext cx="2880360" cy="210312"/>
          </a:xfrm>
          <a:prstGeom prst="rect">
            <a:avLst/>
          </a:prstGeom>
          <a:solidFill>
            <a:srgbClr val="8B2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475488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2EC8"/>
                </a:solidFill>
                <a:latin typeface="맑은 고딕"/>
              </a:rPr>
              <a:t>70점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1206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모니터링 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5157216"/>
            <a:ext cx="4114800" cy="21031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31720" y="5157216"/>
            <a:ext cx="2674620" cy="210312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512064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2B2B"/>
                </a:solidFill>
                <a:latin typeface="맑은 고딕"/>
              </a:rPr>
              <a:t>65점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3154680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79" y="3200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맑은 고딕"/>
              </a:rPr>
              <a:t>최근 발견사항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3611880"/>
            <a:ext cx="429768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9248" y="3639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제목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36393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심각도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3913632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99248" y="394106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접근권한 미회수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42448" y="3950208"/>
            <a:ext cx="1188720" cy="256032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2448" y="398678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높음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4297680"/>
            <a:ext cx="4297680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99248" y="43251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패치관리 지연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42448" y="4334256"/>
            <a:ext cx="1188720" cy="256032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42448" y="4370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중간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4681728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99248" y="47091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백업 검증 누락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42448" y="4718304"/>
            <a:ext cx="1188720" cy="256032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42448" y="475488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높음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5065776"/>
            <a:ext cx="4297680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99248" y="509320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계정 검토 미실시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42448" y="5102352"/>
            <a:ext cx="1188720" cy="25603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42448" y="51389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낮음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04  위험 관리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위험 식별 · 위험 평가 워크시트 · 위험 대응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749039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3749039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46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⚠  위험 식별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위험 코드 자동 채번 (예: RISK-2026-001)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카테고리 분류: 접근통제/변경관리/IT운영 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7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위험명, 설명, 담당자, 소관부서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관련 프로세스 연계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1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DataGrid에서 직접 인라인 편집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49039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91640"/>
            <a:ext cx="3749039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1" y="1746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📊  위험 평가 워크시트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1488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가능성(Likelihood) 1~5 슬라이더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4231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영향도(Impact) 1~5 슬라이더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69747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고유위험·잔여위험 점수 자동 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971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위험 수준 자동 결정 (심각/높음/중간/낮음/미미)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24611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PostgreSQL 트리거로 DB 자동 업데이트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1691640"/>
            <a:ext cx="3749039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1691640"/>
            <a:ext cx="3749039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1746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🛡  위험 대응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1488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4가지 대응 유형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24231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  ① 완화(Mitigate): 통제 강화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69747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  ② 전가(Transfer): 보험·외주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971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  ③ 수용(Accept): 비용 대비 허용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24611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  ④ 회피(Avoid): 활동 중단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520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대응 계획 및 담당자 지정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46320"/>
            <a:ext cx="11567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4A"/>
                </a:solidFill>
                <a:latin typeface="맑은 고딕"/>
              </a:rPr>
              <a:t>위험 수준 기준 (가능성 × 영향도)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257800"/>
            <a:ext cx="201168" cy="32004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심각 (20~25)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5257800"/>
            <a:ext cx="201168" cy="3200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높음 (12~19)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5257800"/>
            <a:ext cx="201168" cy="320040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0952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중간 (6~11)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5257800"/>
            <a:ext cx="201168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16952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낮음 (3~5)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5257800"/>
            <a:ext cx="201168" cy="32004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02952" y="5257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미미 (1~2)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04  위험 관리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5×5 위험 매트릭스 시각화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가능성
(Likelihood)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381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53211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E4A"/>
                </a:solidFill>
                <a:latin typeface="맑은 고딕"/>
              </a:rPr>
              <a:t>영향도 (Impact)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5897879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60"/>
                </a:solidFill>
                <a:latin typeface="맑은 고딕"/>
              </a:rPr>
              <a:t>1
매우낮음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897879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60"/>
                </a:solidFill>
                <a:latin typeface="맑은 고딕"/>
              </a:rPr>
              <a:t>2
낮음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799" y="5897879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60"/>
                </a:solidFill>
                <a:latin typeface="맑은 고딕"/>
              </a:rPr>
              <a:t>3
보통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897879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60"/>
                </a:solidFill>
                <a:latin typeface="맑은 고딕"/>
              </a:rPr>
              <a:t>4
높음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897879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60"/>
                </a:solidFill>
                <a:latin typeface="맑은 고딕"/>
              </a:rPr>
              <a:t>5
매우높음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691640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1938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1691640"/>
            <a:ext cx="832103" cy="713231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79" y="1938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1691640"/>
            <a:ext cx="832103" cy="713231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59" y="1938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1691640"/>
            <a:ext cx="832103" cy="713231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1938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691640"/>
            <a:ext cx="832103" cy="713231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938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441448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688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441448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79" y="2688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39" y="2441448"/>
            <a:ext cx="832103" cy="713231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59" y="2688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2441448"/>
            <a:ext cx="832103" cy="713231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39" y="2688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441448"/>
            <a:ext cx="832103" cy="713231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2688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191256"/>
            <a:ext cx="832103" cy="713231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438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5960" y="3191256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79" y="3438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39" y="3191256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59" y="3438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3191256"/>
            <a:ext cx="832103" cy="713231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3438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3191256"/>
            <a:ext cx="832103" cy="713231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3438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3941064"/>
            <a:ext cx="832103" cy="713231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4187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65960" y="3941064"/>
            <a:ext cx="832103" cy="713231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79" y="4187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39" y="3941064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59" y="4187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3320" y="3941064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77639" y="4187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941064"/>
            <a:ext cx="832103" cy="713231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4187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4690872"/>
            <a:ext cx="832103" cy="713231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65960" y="4690872"/>
            <a:ext cx="832103" cy="713231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0279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39" y="4690872"/>
            <a:ext cx="832103" cy="713231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08959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03320" y="4690872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39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4690872"/>
            <a:ext cx="832103" cy="713231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0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범례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2240280"/>
            <a:ext cx="411480" cy="347472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951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심각 (20+)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2743200"/>
            <a:ext cx="41148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95160" y="2761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높음 (12~19)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3246120"/>
            <a:ext cx="411480" cy="347472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95160" y="3264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중간 (6~11)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3749040"/>
            <a:ext cx="41148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95160" y="3767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낮음 (1~5)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92240" y="4572000"/>
            <a:ext cx="53949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92240" y="4572000"/>
            <a:ext cx="539496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29400" y="4608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📌  매트릭스 주요 기능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29400" y="5010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고유위험·잔여위험 탭 전환으로 비교 분석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5285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셀 클릭 시 해당 위험 목록 팝업 조회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55595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버블 차트로 위험 분포 한눈에 파악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8338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위험 감소 방향성 시각화 (고유→잔여)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05  통제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통제 목록 관리 · 설계 적합성 평가 · 위험-통제 매핑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749039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3749039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46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🛡  통제 목록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도메인별 탭: 접근통제/변경관리/IT운영/업무연속성/정보보안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통제 코드, 통제명, 유형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7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통제 유형: 예방·탐지·교정 통제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자동화 여부: 자동·수동·반자동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1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주기: 상시/일일/주간/월간/분기 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핵심통제(Key Control) 여부 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691640"/>
            <a:ext cx="3749039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691640"/>
            <a:ext cx="3749039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1746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✅  설계 적합성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1488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통제별 설계 적합성 평가 워크시트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4231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설계 목적 및 통제 절차 기술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69747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평가 기준 항목별 체크리스트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971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결과: 적합 / 미흡 / 미평가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24611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설계 미흡 시 개선 의견 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520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최종 승인자 서명 기록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1691640"/>
            <a:ext cx="3749039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8744" y="1691640"/>
            <a:ext cx="3749039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1746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🔗  위험-통제 매핑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1488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위험별 대응 통제 연결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4231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매핑 유형: 주요통제 / 보완통제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69747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통제 커버리지 비율 자동 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2971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미매핑 위험 자동 식별 및 경고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324611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매핑 현황 시각화 차트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520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도메인별 통제 효과성 요약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166360"/>
            <a:ext cx="11567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📊  도메인별 통제 효과성 현황 (예시)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접근통제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852160"/>
            <a:ext cx="2011680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852160"/>
            <a:ext cx="1770278" cy="25603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8918" y="5852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9E5A"/>
                </a:solidFill>
                <a:latin typeface="맑은 고딕"/>
              </a:rPr>
              <a:t>88%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변경관리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852160"/>
            <a:ext cx="2011680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88920" y="5852160"/>
            <a:ext cx="1508760" cy="25603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852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6A1A"/>
                </a:solidFill>
                <a:latin typeface="맑은 고딕"/>
              </a:rPr>
              <a:t>75%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IT운영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5852160"/>
            <a:ext cx="2011680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74920" y="5852160"/>
            <a:ext cx="1649577" cy="256032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70217" y="5852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FC8"/>
                </a:solidFill>
                <a:latin typeface="맑은 고딕"/>
              </a:rPr>
              <a:t>82%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업무연속성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5852160"/>
            <a:ext cx="2011680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60920" y="5852160"/>
            <a:ext cx="1408176" cy="256032"/>
          </a:xfrm>
          <a:prstGeom prst="rect">
            <a:avLst/>
          </a:prstGeom>
          <a:solidFill>
            <a:srgbClr val="F0A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14816" y="5852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0A51A"/>
                </a:solidFill>
                <a:latin typeface="맑은 고딕"/>
              </a:rPr>
              <a:t>70%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정보보안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20" y="5852160"/>
            <a:ext cx="2011680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20" y="5852160"/>
            <a:ext cx="1850745" cy="25603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43385" y="5852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9E5A"/>
                </a:solidFill>
                <a:latin typeface="맑은 고딕"/>
              </a:rPr>
              <a:t>92%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06  운영평가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평가 계획 수립 · 실행(샘플링·증빙) · 결과 확정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148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214884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2821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📅 계획 수립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평가 대상·기간
담당자·샘플링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2B2B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4" y="1691640"/>
            <a:ext cx="2148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0904" y="1691640"/>
            <a:ext cx="214884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172821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17282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🔬 샘플 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176272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전수/확률적/판단적
샘플 추출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1945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2B2B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1691640"/>
            <a:ext cx="2148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691640"/>
            <a:ext cx="214884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172821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17282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📂 증빙 수집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176272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파일 업로드
트랜잭션 ID 기록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1945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2B2B"/>
                </a:solidFill>
                <a:latin typeface="맑은 고딕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2631" y="1691640"/>
            <a:ext cx="2148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691640"/>
            <a:ext cx="214884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172821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17282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✅ 테스트 수행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176272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통과/예외/미적용
결과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21945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2B2B"/>
                </a:solidFill>
                <a:latin typeface="맑은 고딕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1691640"/>
            <a:ext cx="21488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83496" y="1691640"/>
            <a:ext cx="214884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93224" y="172821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6456" y="17282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📝 결과 확정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6" y="2176272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평가 의견·검토·승인
결론 도출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3756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337560"/>
            <a:ext cx="3749039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33924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📅  평가 계획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연도·분기별 평가 계획 캘린더 타임라인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0690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통제별 담당 평가자 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434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샘플링 방법 선택 (전수/확률적/비통계적/판단적)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6177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계획 대비 실적 진행률 자동 계산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8920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지연 현황 자동 경고 표시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9392" y="333756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79392" y="3337560"/>
            <a:ext cx="3749039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0831" y="33924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🔬  평가 실행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37947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샘플 번호 자동 채번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6552" y="40690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트랜잭션 일자·ID 입력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2" y="43434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증빙 파일 첨부 기능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2" y="46177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테스트 결과 입력 (통과/예외/미적용)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6552" y="48920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예외 사유 상세 기록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38744" y="333756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38744" y="3337560"/>
            <a:ext cx="3749039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3" y="33924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📝  결과 및 통계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37947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샘플 합격률·예외율 자동 집계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904" y="40690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결론 도출: 효과적/부분효과적/비효과적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5904" y="43434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평가자→검토자→승인자 워크플로우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5904" y="46177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도메인별·분기별 효과성 추이 차트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75904" y="48920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E4A"/>
                </a:solidFill>
                <a:latin typeface="맑은 고딕"/>
              </a:rPr>
              <a:t>▸  Master-Detail 그리드 결과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07  발견사항 &amp; 개선조치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미비점 등록 · 심각도 분류 · Kanban 추적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39496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39496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🔎  발견사항 목록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발견사항 번호 자동 생성 (FND-2026-001)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5117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유형 분류: 운영평가 / 내부감사 / 외부감사 / 자체점검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352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심각도 필터: 심각(빨강) · 높음(주황) · 중간(노랑) · 낮음(초록)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관련 통제·위험 코드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근본 원인 분석 (Root Cause)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873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조치 권고사항 및 조치 계획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714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조치 기한, 담당자, 진행률(0~100%)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5546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기한 초과 시 자동 상태 변경 및 경고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691640"/>
            <a:ext cx="589788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691640"/>
            <a:ext cx="5897880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📋  개선조치 Kanban 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148840"/>
            <a:ext cx="1298448" cy="32004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16712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미결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578608"/>
            <a:ext cx="1207008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624328"/>
            <a:ext cx="1115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접근권한 미회수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630168"/>
            <a:ext cx="1207008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675887"/>
            <a:ext cx="1115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배치작업 오류 미처리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2148840"/>
            <a:ext cx="1298448" cy="3200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16712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조치중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578608"/>
            <a:ext cx="1207008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624328"/>
            <a:ext cx="1115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패치 관리 지연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630168"/>
            <a:ext cx="1207008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675887"/>
            <a:ext cx="1115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로그 검토 누락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2148840"/>
            <a:ext cx="1298448" cy="32004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16712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기한초과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2578608"/>
            <a:ext cx="1207008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2624328"/>
            <a:ext cx="1115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계정 검토 미이행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2148840"/>
            <a:ext cx="1298448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216712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조치완료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2578608"/>
            <a:ext cx="1207008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2624328"/>
            <a:ext cx="1115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변경관리 절차 개선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  <a:latin typeface="맑은 고딕"/>
              </a:rPr>
              <a:t>💡 드래그&amp;드롭으로 상태 변경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08  보고서 &amp; 시스템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종합 보고서 생성 · 조직 관리 · 사용자 관리 · COSO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46304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0817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COSO 연관: IC / 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6692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2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669280" cy="384048"/>
          </a:xfrm>
          <a:prstGeom prst="rect">
            <a:avLst/>
          </a:prstGeom>
          <a:solidFill>
            <a:srgbClr val="8B2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📄  보고서 (정보 및 의사소통 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COSO 종합 보고서 — 구성요소별 점수 및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51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분기별 운영평가 결과 보고서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352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위험·통제 현황 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발견사항 및 개선조치 현황 보고서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보고서 미리보기 및 PDF/Excel 다운로드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873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보고 기간 선택 (연도·분기·월)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6235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623560" cy="347472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🏢  조직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05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그룹사/본부/팀 트리 구조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상위 조직 연결 및 정렬 순서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15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조직 코드·유형 분류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246120"/>
            <a:ext cx="56235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246120"/>
            <a:ext cx="5623560" cy="347472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918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👥  사용자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8503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사용자 ID/이름/이메일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7763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역할 배정: ADMIN/MANAGER/EVALUATOR/VIEWER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7024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활성/비활성 상태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800600"/>
            <a:ext cx="56235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800600"/>
            <a:ext cx="562356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⚙  COSO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395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구성요소별 가중치 설정 (합계 100%)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532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점수 기준 임계값: 양호/보통/미흡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824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▸  평가 기준 및 설명 수정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09  기대 효과 및 활용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  <a:latin typeface="맑은 고딕"/>
              </a:rPr>
              <a:t>정량적 효과 · 준거성 강화 · 향후 발전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788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88920" cy="41148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⏱  업무 시간
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6FC8"/>
                </a:solidFill>
                <a:latin typeface="맑은 고딕"/>
              </a:rPr>
              <a:t>40%+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수작업 엑셀 대비
자동화 효과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88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88920" cy="41148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17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🎯  통제 커버리지
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9E5A"/>
                </a:solidFill>
                <a:latin typeface="맑은 고딕"/>
              </a:rPr>
              <a:t>95%+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8716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위험-통제 매핑
완성도 목표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788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2788920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📉  발견사항
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6A1A"/>
                </a:solidFill>
                <a:latin typeface="맑은 고딕"/>
              </a:rPr>
              <a:t>30%↓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8716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사전 통제로
미비점 예방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88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2788920" cy="41148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417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⚡  감사 대응
시간 단축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2B2B"/>
                </a:solidFill>
                <a:latin typeface="맑은 고딕"/>
              </a:rPr>
              <a:t>50%↓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48716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보고서 자동화 및
근거 자료 즉시 제공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83280"/>
            <a:ext cx="5577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557784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29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🏛  준거성·감사 대응 강화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6791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✓  COSO 2013 내부통제 프레임워크 완전 준수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✓  금융보안원 ISMS-P 통제 항목 매핑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4456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✓  외부감사인 요청 근거자료 즉시 조회·출력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828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✓  감사 추적(Audit Trail) 이력 보관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383280"/>
            <a:ext cx="57150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383280"/>
            <a:ext cx="571500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429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🚀  향후 발전 로드맵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8679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AI 기반 위험 자동 식별 및 이상징후 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2062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모바일 앱 지원 (평가자 현장 증빙 촬영)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4456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타 시스템 연계 (ERP, SIEM, IAM)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8289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그룹사 간 벤치마킹 리포트 기능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1E6FC8"/>
                </a:solidFill>
                <a:latin typeface="맑은 고딕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4572000" cy="6400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8F0"/>
                </a:solidFill>
                <a:latin typeface="맑은 고딕"/>
              </a:rPr>
              <a:t>그룹사 ITGC 포털은 COSO 2013 프레임워크를 기반으로
IT 일반통제의 체계적 관리와 운영평가를 지원합니다.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4114800" cy="13716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280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C8"/>
                </a:solidFill>
                <a:latin typeface="맑은 고딕"/>
              </a:rPr>
              <a:t>📧  시스템 문의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ITGC 포털 관리팀
itgc-admin@company.com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0972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C8"/>
                </a:solidFill>
                <a:latin typeface="맑은 고딕"/>
              </a:rPr>
              <a:t>주요 기능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00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📊  대시보드 &amp; 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860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⚠  위험 식별·평가·매트릭스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971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🛡  통제 활동 &amp; 매핑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657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📝  운영평가 계획·실행·결과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3434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🔎  발견사항 &amp; Kanban 개선조치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029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</a:rPr>
              <a:t>📄  보고서 &amp; 시스템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