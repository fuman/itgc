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281160" y="0"/>
            <a:ext cx="73152" cy="685800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1E6FC8"/>
                </a:solidFill>
                <a:latin typeface="맑은 고딕"/>
              </a:rPr>
              <a:t>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맑은 고딕"/>
              </a:rPr>
              <a:t>ITGC 포털 구축 과정 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14600"/>
            <a:ext cx="7772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7AB4E8"/>
                </a:solidFill>
                <a:latin typeface="맑은 고딕"/>
              </a:rPr>
              <a:t>AI(Claude)와 함께한 시스템 개발 히스토리 &amp; 개선 가이드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00400"/>
            <a:ext cx="4572000" cy="54864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C0D8F0"/>
                </a:solidFill>
                <a:latin typeface="맑은 고딕"/>
              </a:rPr>
              <a:t>대화 히스토리 시간순 정리
향후 효율적인 AI 협업 가이드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217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7090B0"/>
                </a:solidFill>
                <a:latin typeface="맑은 고딕"/>
              </a:rPr>
              <a:t>2026.03.05  |  ITGC 포털 프로젝트 팀</a:t>
            </a:r>
          </a:p>
        </p:txBody>
      </p:sp>
      <p:sp>
        <p:nvSpPr>
          <p:cNvPr id="10" name="Rectangle 9"/>
          <p:cNvSpPr/>
          <p:nvPr/>
        </p:nvSpPr>
        <p:spPr>
          <a:xfrm>
            <a:off x="9418320" y="1371600"/>
            <a:ext cx="2377440" cy="1645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18320" y="1371600"/>
            <a:ext cx="2377440" cy="41148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418320" y="143560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PART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0" y="1874519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대화 히스토리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418320" y="3383280"/>
            <a:ext cx="2377440" cy="164592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418320" y="3383280"/>
            <a:ext cx="2377440" cy="41148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0" y="3447288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PART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418320" y="38862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개선된 대화 가이드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목  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  <a:latin typeface="맑은 고딕"/>
              </a:rPr>
              <a:t>Contents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417320"/>
            <a:ext cx="594360" cy="77724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581912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1417320"/>
            <a:ext cx="5303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1417320"/>
            <a:ext cx="640080" cy="7772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161848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6FC8"/>
                </a:solidFill>
                <a:latin typeface="맑은 고딕"/>
              </a:rPr>
              <a:t>PART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3352" y="15087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  <a:latin typeface="맑은 고딕"/>
              </a:rPr>
              <a:t>프로젝트 전체 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73352" y="18562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맑은 고딕"/>
              </a:rPr>
              <a:t>5단계 구축 여정 한눈에 보기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0040" y="2496312"/>
            <a:ext cx="594360" cy="77724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2660904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2496312"/>
            <a:ext cx="5303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2496312"/>
            <a:ext cx="640080" cy="7772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269748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6FC8"/>
                </a:solidFill>
                <a:latin typeface="맑은 고딕"/>
              </a:rPr>
              <a:t>PART 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73352" y="25877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  <a:latin typeface="맑은 고딕"/>
              </a:rPr>
              <a:t>Phase 1 — 최초 시스템 구축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" y="293522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맑은 고딕"/>
              </a:rPr>
              <a:t>COSO 포털 기초 설계 및 전체 구현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" y="3575304"/>
            <a:ext cx="594360" cy="77724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3739896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3575304"/>
            <a:ext cx="5303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0" y="3575304"/>
            <a:ext cx="640080" cy="7772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" y="377647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6FC8"/>
                </a:solidFill>
                <a:latin typeface="맑은 고딕"/>
              </a:rPr>
              <a:t>PART 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73352" y="366674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  <a:latin typeface="맑은 고딕"/>
              </a:rPr>
              <a:t>Phase 2 — 백엔드 기술 전환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3352" y="401421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맑은 고딕"/>
              </a:rPr>
              <a:t>PostgreSQL + MyBatis 마이그레이션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4654296"/>
            <a:ext cx="594360" cy="77724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818888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" y="4654296"/>
            <a:ext cx="5303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" y="4654296"/>
            <a:ext cx="640080" cy="7772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41832" y="485546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6FC8"/>
                </a:solidFill>
                <a:latin typeface="맑은 고딕"/>
              </a:rPr>
              <a:t>PART 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73352" y="474573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  <a:latin typeface="맑은 고딕"/>
              </a:rPr>
              <a:t>Phase 3 — 문서화 및 PPT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673352" y="509320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맑은 고딕"/>
              </a:rPr>
              <a:t>README · 사용자 가이드 PPT 작성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263640" y="1417320"/>
            <a:ext cx="594360" cy="77724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63640" y="1581912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58000" y="1417320"/>
            <a:ext cx="5303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0" y="1417320"/>
            <a:ext cx="640080" cy="777240"/>
          </a:xfrm>
          <a:prstGeom prst="rect">
            <a:avLst/>
          </a:prstGeom>
          <a:solidFill>
            <a:srgbClr val="E8F0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85431" y="161848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E6FC8"/>
                </a:solidFill>
                <a:latin typeface="맑은 고딕"/>
              </a:rPr>
              <a:t>PART 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616952" y="1508760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  <a:latin typeface="맑은 고딕"/>
              </a:rPr>
              <a:t>Phase 4 — 샘플 데이터 구축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16952" y="18562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맑은 고딕"/>
              </a:rPr>
              <a:t>12개 테이블 전체 DML 작성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2496312"/>
            <a:ext cx="594360" cy="77724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263640" y="2660904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858000" y="2496312"/>
            <a:ext cx="5303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858000" y="2496312"/>
            <a:ext cx="640080" cy="77724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85431" y="269748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9E5A"/>
                </a:solidFill>
                <a:latin typeface="맑은 고딕"/>
              </a:rPr>
              <a:t>PART 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616952" y="2587752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  <a:latin typeface="맑은 고딕"/>
              </a:rPr>
              <a:t>AI 협업 회고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16952" y="293522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맑은 고딕"/>
              </a:rPr>
              <a:t>잘된 점 · 개선이 필요했던 점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3575304"/>
            <a:ext cx="594360" cy="77724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263640" y="3739896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3575304"/>
            <a:ext cx="5303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858000" y="3575304"/>
            <a:ext cx="640080" cy="77724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885431" y="377647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9E5A"/>
                </a:solidFill>
                <a:latin typeface="맑은 고딕"/>
              </a:rPr>
              <a:t>PART 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616952" y="3666744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  <a:latin typeface="맑은 고딕"/>
              </a:rPr>
              <a:t>향후 대화 방법 가이드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616952" y="401421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맑은 고딕"/>
              </a:rPr>
              <a:t>효율적 요청 템플릿 및 원칙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63640" y="4654296"/>
            <a:ext cx="594360" cy="77724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63640" y="4818888"/>
            <a:ext cx="594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858000" y="4654296"/>
            <a:ext cx="530352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6858000" y="4654296"/>
            <a:ext cx="640080" cy="777240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885431" y="485546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1A9E5A"/>
                </a:solidFill>
                <a:latin typeface="맑은 고딕"/>
              </a:rPr>
              <a:t>PART 2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616952" y="4745736"/>
            <a:ext cx="4480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  <a:latin typeface="맑은 고딕"/>
              </a:rPr>
              <a:t>추천 대화 시나리오 예시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616952" y="509320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606060"/>
                </a:solidFill>
                <a:latin typeface="맑은 고딕"/>
              </a:rPr>
              <a:t>단계별 구체적 질문 방법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01  프로젝트 전체 개요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  <a:latin typeface="맑은 고딕"/>
              </a:rPr>
              <a:t>5단계 구축 여정 · 2026년 3월 4~5일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2011680" cy="32004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PART 1 — 히스토리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3246120"/>
            <a:ext cx="11292840" cy="91440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057400"/>
            <a:ext cx="205740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121408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4A"/>
                </a:solidFill>
                <a:latin typeface="맑은 고딕"/>
              </a:rPr>
              <a:t>03.04
오전</a:t>
            </a:r>
          </a:p>
        </p:txBody>
      </p:sp>
      <p:sp>
        <p:nvSpPr>
          <p:cNvPr id="10" name="Rectangle 9"/>
          <p:cNvSpPr/>
          <p:nvPr/>
        </p:nvSpPr>
        <p:spPr>
          <a:xfrm>
            <a:off x="1280160" y="3127248"/>
            <a:ext cx="594360" cy="59436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80160" y="31272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●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3822191"/>
            <a:ext cx="2057400" cy="155448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3858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Phase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4160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최초 구축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45262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EEFF"/>
                </a:solidFill>
                <a:latin typeface="맑은 고딕"/>
              </a:rPr>
              <a:t>COSO 포털
전체 구현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0" y="2057400"/>
            <a:ext cx="205740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80360" y="2121408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4A"/>
                </a:solidFill>
                <a:latin typeface="맑은 고딕"/>
              </a:rPr>
              <a:t>03.04
오후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474720" y="3127248"/>
            <a:ext cx="594360" cy="59436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74720" y="31272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0" y="3822191"/>
            <a:ext cx="2057400" cy="15544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52928" y="3858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Phase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52928" y="4160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기술 전환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52928" y="45262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EEFF"/>
                </a:solidFill>
                <a:latin typeface="맑은 고딕"/>
              </a:rPr>
              <a:t>PostgreSQL
MyBatis 전환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2057400"/>
            <a:ext cx="205740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74920" y="2121408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4A"/>
                </a:solidFill>
                <a:latin typeface="맑은 고딕"/>
              </a:rPr>
              <a:t>03.04
저녁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0" y="3127248"/>
            <a:ext cx="594360" cy="59436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31272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●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937760" y="3822191"/>
            <a:ext cx="2057400" cy="155448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47488" y="3858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Phase 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4160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문서화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45262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EEFF"/>
                </a:solidFill>
                <a:latin typeface="맑은 고딕"/>
              </a:rPr>
              <a:t>README
PPT 작성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132320" y="2057400"/>
            <a:ext cx="205740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6B2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69480" y="2121408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4A"/>
                </a:solidFill>
                <a:latin typeface="맑은 고딕"/>
              </a:rPr>
              <a:t>03.05
자정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3127248"/>
            <a:ext cx="594360" cy="594360"/>
          </a:xfrm>
          <a:prstGeom prst="rect">
            <a:avLst/>
          </a:prstGeom>
          <a:solidFill>
            <a:srgbClr val="6B2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863840" y="31272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32320" y="3822191"/>
            <a:ext cx="2057400" cy="1554480"/>
          </a:xfrm>
          <a:prstGeom prst="rect">
            <a:avLst/>
          </a:prstGeom>
          <a:solidFill>
            <a:srgbClr val="6B2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242048" y="3858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Phase 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42048" y="4160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데이터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42048" y="45262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EEFF"/>
                </a:solidFill>
                <a:latin typeface="맑은 고딕"/>
              </a:rPr>
              <a:t>샘플 데이터
12테이블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326880" y="2057400"/>
            <a:ext cx="2057400" cy="1097280"/>
          </a:xfrm>
          <a:prstGeom prst="rect">
            <a:avLst/>
          </a:prstGeom>
          <a:solidFill>
            <a:srgbClr val="FFFFFF"/>
          </a:solidFill>
          <a:ln w="15240">
            <a:solidFill>
              <a:srgbClr val="1A8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464040" y="2121408"/>
            <a:ext cx="1783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1A2E4A"/>
                </a:solidFill>
                <a:latin typeface="맑은 고딕"/>
              </a:rPr>
              <a:t>03.05
오전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0058400" y="3127248"/>
            <a:ext cx="594360" cy="594360"/>
          </a:xfrm>
          <a:prstGeom prst="rect">
            <a:avLst/>
          </a:prstGeom>
          <a:solidFill>
            <a:srgbClr val="1A8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0" y="3127248"/>
            <a:ext cx="594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맑은 고딕"/>
              </a:rPr>
              <a:t>●</a:t>
            </a:r>
          </a:p>
        </p:txBody>
      </p:sp>
      <p:sp>
        <p:nvSpPr>
          <p:cNvPr id="44" name="Rectangle 43"/>
          <p:cNvSpPr/>
          <p:nvPr/>
        </p:nvSpPr>
        <p:spPr>
          <a:xfrm>
            <a:off x="9326880" y="3822191"/>
            <a:ext cx="2057400" cy="1554480"/>
          </a:xfrm>
          <a:prstGeom prst="rect">
            <a:avLst/>
          </a:prstGeom>
          <a:solidFill>
            <a:srgbClr val="1A8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36607" y="3858768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맑은 고딕"/>
              </a:rPr>
              <a:t>Phase 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36607" y="416052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정리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36607" y="452628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D8EEFF"/>
                </a:solidFill>
                <a:latin typeface="맑은 고딕"/>
              </a:rPr>
              <a:t>구축 과정
정리 PPT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0040" y="5577840"/>
            <a:ext cx="115671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56235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  <a:latin typeface="맑은 고딕"/>
              </a:rPr>
              <a:t>🏆  구축 성과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59893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6FC8"/>
                </a:solidFill>
                <a:latin typeface="맑은 고딕"/>
              </a:rPr>
              <a:t>12개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11480" y="63550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맑은 고딕"/>
              </a:rPr>
              <a:t>DB 테이블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057400" y="59893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6FC8"/>
                </a:solidFill>
                <a:latin typeface="맑은 고딕"/>
              </a:rPr>
              <a:t>14개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057400" y="63550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맑은 고딕"/>
              </a:rPr>
              <a:t>화면 페이지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703320" y="59893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6FC8"/>
                </a:solidFill>
                <a:latin typeface="맑은 고딕"/>
              </a:rPr>
              <a:t>13개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703320" y="63550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맑은 고딕"/>
              </a:rPr>
              <a:t>위험 등록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349240" y="59893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6FC8"/>
                </a:solidFill>
                <a:latin typeface="맑은 고딕"/>
              </a:rPr>
              <a:t>14개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49240" y="63550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맑은 고딕"/>
              </a:rPr>
              <a:t>통제 등록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995160" y="59893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6FC8"/>
                </a:solidFill>
                <a:latin typeface="맑은 고딕"/>
              </a:rPr>
              <a:t>20개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5160" y="63550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맑은 고딕"/>
              </a:rPr>
              <a:t>평가 계획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41080" y="59893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6FC8"/>
                </a:solidFill>
                <a:latin typeface="맑은 고딕"/>
              </a:rPr>
              <a:t>8개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41080" y="63550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맑은 고딕"/>
              </a:rPr>
              <a:t>발견사항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287000" y="5989320"/>
            <a:ext cx="1463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6FC8"/>
                </a:solidFill>
                <a:latin typeface="맑은 고딕"/>
              </a:rPr>
              <a:t>1개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287000" y="6355080"/>
            <a:ext cx="1463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맑은 고딕"/>
              </a:rPr>
              <a:t>사용자 가이드 PPT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02  Phase 1 — 최초 시스템 구축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  <a:latin typeface="맑은 고딕"/>
              </a:rPr>
              <a:t>2026-03-04 오전 · 커밋: feat: COSO 기반 그룹사 ITGC 포털 전체 구현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2011680" cy="32004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PART 1 — 히스토리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53035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5303520" cy="38404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💬  사용자 요청 내용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• "그룹사 ITGC 포털을 만들어 주세요"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78024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• COSO 2013 프레임워크 기반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79776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• 위험관리, 통제활동, 운영평가, 발견사항, 보고서 기능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81528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• Vue 3 프론트엔드 + Spring Boot 백엔드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383280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• 멀티 그룹사 지원 (조직 계층 구조)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97880" y="1691640"/>
            <a:ext cx="5989320" cy="21031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897880" y="1691640"/>
            <a:ext cx="5989320" cy="384048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0" y="17373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✅  Claude 구현 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2176272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• 프론트엔드: Vue 3 + DevExtreme (14개 화면)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35040" y="2478024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• 백엔드: Spring Boot 3.2 + REST 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35040" y="277977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• DB: PostgreSQL 12개 테이블 + 트리거/인덱스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3081528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• 사용자 인증: Spring Security + JWT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35040" y="3383280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• COSO 5개 구성요소 전체 화면 구현 완료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931920"/>
            <a:ext cx="365760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931920"/>
            <a:ext cx="3657600" cy="38404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39959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📊 프론트엔드 (Vue 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40740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로그인 · 대시보드 (COSO KPI)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68172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위험 목록/평가/대응/매트릭스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95604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통제 목록/설계/매핑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523036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운영평가 계획/실행/결과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50468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발견사항/개선조치 Kanban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779007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보고서/조직/사용자/COSO 설정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160520" y="3931920"/>
            <a:ext cx="365760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160520" y="3931920"/>
            <a:ext cx="3657600" cy="38404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70248" y="39959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🗄️ DB 스키마 (PostgreSQL)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0" y="440740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itgc_organization (조직 계층)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297680" y="468172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itgc_user (사용자·역할)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495604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itgc_risk (위험 + 자동 점수 트리거)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523036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itgc_control (통제 + 설계평가)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97680" y="550468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itgc_risk_control_mapping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97680" y="5779007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itgc_eval_plan/sample/result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297680" y="6053327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itgc_finding/remediation_history/report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97680" y="6327647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itgc_coso_config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001000" y="3931920"/>
            <a:ext cx="3657600" cy="2651760"/>
          </a:xfrm>
          <a:prstGeom prst="rect">
            <a:avLst/>
          </a:prstGeom>
          <a:solidFill>
            <a:srgbClr val="FFFFFF"/>
          </a:solidFill>
          <a:ln w="1905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01000" y="3931920"/>
            <a:ext cx="3657600" cy="384048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10727" y="39959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⚙️ 백엔드 (Spring Boot)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138160" y="440740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Controller-Service-Mapper 3계층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468172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JWT 기반 로그인/토큰 갱신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38160" y="495604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위험·통제·평가·발견사항 CRUD API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138160" y="523036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COSO 점수 자동 계산 로직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138160" y="5504688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파일 업로드 (증빙 관리)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138160" y="5779007"/>
            <a:ext cx="3429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역할 기반 권한 제어 (RBAC)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03  Phase 2 — 백엔드 기술 전환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  <a:latin typeface="맑은 고딕"/>
              </a:rPr>
              <a:t>2026-03-04 오후 · 커밋: feat: PostgreSQL + HikariCP + MyBatis로 백엔드 전환 및 DB 스크립트 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2011680" cy="32004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PART 1 — 히스토리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53035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5303520" cy="384048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⚠  전환 전 (Before)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1010"/>
                </a:solidFill>
                <a:latin typeface="맑은 고딕"/>
              </a:rPr>
              <a:t>• JPA / Spring Data JPA (ORM)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45059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1010"/>
                </a:solidFill>
                <a:latin typeface="맑은 고딕"/>
              </a:rPr>
              <a:t>• H2 In-memory 데이터베이스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7249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1010"/>
                </a:solidFill>
                <a:latin typeface="맑은 고딕"/>
              </a:rPr>
              <a:t>• 복잡한 쿼리 커스터마이징 어려움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992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01010"/>
                </a:solidFill>
                <a:latin typeface="맑은 고딕"/>
              </a:rPr>
              <a:t>• 재시작 시 데이터 초기화 문제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760720" y="2240280"/>
            <a:ext cx="731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E6FC8"/>
                </a:solidFill>
                <a:latin typeface="맑은 고딕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1691640"/>
            <a:ext cx="5303520" cy="1645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1691640"/>
            <a:ext cx="5303520" cy="384048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✅  전환 후 (After)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17627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6030"/>
                </a:solidFill>
                <a:latin typeface="맑은 고딕"/>
              </a:rPr>
              <a:t>• MyBatis (SQL Mapper) 방식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20840" y="2450591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6030"/>
                </a:solidFill>
                <a:latin typeface="맑은 고딕"/>
              </a:rPr>
              <a:t>• PostgreSQL 14+ (영구 데이터베이스)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72491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6030"/>
                </a:solidFill>
                <a:latin typeface="맑은 고딕"/>
              </a:rPr>
              <a:t>• HikariCP 커넥션 풀 적용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999232"/>
            <a:ext cx="5120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6030"/>
                </a:solidFill>
                <a:latin typeface="맑은 고딕"/>
              </a:rPr>
              <a:t>• 세밀한 SQL 제어 및 성능 최적화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3520440"/>
            <a:ext cx="3749039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20040" y="3520440"/>
            <a:ext cx="3749039" cy="38404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" y="3584448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💬  사용자 요청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399592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• "PostgreSQL 14로 변경해 주세요"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7024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• "JPA 대신 MyBatis 사용해 주세요"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54456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• "HikariCP 설정 추가해 주세요"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1888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• "DB 생성 스크립트 별도 파일로"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79392" y="3520440"/>
            <a:ext cx="3749039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279392" y="3520440"/>
            <a:ext cx="3749039" cy="38404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3584448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📁  추가된 파일 구조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16552" y="399592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db/ddl/01_create_schema.sql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16552" y="427024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db/ddl/02_create_indexes.sql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416552" y="454456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db/dml/03_insert_sample_data.sql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16552" y="481888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backend/src/../mapper/*.xml (MyBatis)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6552" y="5093207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application.yml (HikariCP 설정)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38744" y="3520440"/>
            <a:ext cx="3749039" cy="2560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238744" y="3520440"/>
            <a:ext cx="3749039" cy="384048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48471" y="3584448"/>
            <a:ext cx="356615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🔧  기술적 개선 포인트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75904" y="399592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트리거 기반 위험 점수 자동 계산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75904" y="427024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GiST 인덱스로 텍스트 검색 최적화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75904" y="454456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체크 제약조건으로 도메인 무결성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75904" y="4818888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MyBatis dynamic SQL (복잡 쿼리)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75904" y="5093207"/>
            <a:ext cx="35204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▸  트랜잭션 관리 명시적 제어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04  Phase 3 — 문서화 및 PPT 작성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  <a:latin typeface="맑은 고딕"/>
              </a:rPr>
              <a:t>2026-03-04 저녁 · 커밋: README 업데이트 + 사용자 가이드 PPT 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2011680" cy="32004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PART 1 — 히스토리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548640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548640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📖  README.md — PC 설치 및 실행 가이드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176272"/>
            <a:ext cx="100584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20370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요청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20370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"개발 환경 설치 가이드를 README에 작성해 주세요"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51760"/>
            <a:ext cx="100584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67919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사전요건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267919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Node.js 18+, Java 17+, PostgreSQL 14+, Maven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127248"/>
            <a:ext cx="100584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31546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DB 설정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3154680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PostgreSQL 설치 → DB 생성 → DDL/DML 실행 순서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602736"/>
            <a:ext cx="100584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63016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백엔드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3630168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application.yml 설정 → mvn spring-boot:run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078224"/>
            <a:ext cx="100584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" y="410565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프론트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63040" y="4105656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npm install → npm run dev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553712"/>
            <a:ext cx="100584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58114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접속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463040" y="4581144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http://localhost:5173 (기본 계정: admin/itgc1234)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029200"/>
            <a:ext cx="1005840" cy="347472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80" y="505663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트러블슈팅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63040" y="5056632"/>
            <a:ext cx="42062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포트 충돌, CORS 설정, DB 연결 오류 해결 방법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80760" y="1691640"/>
            <a:ext cx="5806440" cy="3931920"/>
          </a:xfrm>
          <a:prstGeom prst="rect">
            <a:avLst/>
          </a:prstGeom>
          <a:solidFill>
            <a:srgbClr val="FFFFFF"/>
          </a:solidFill>
          <a:ln w="19050">
            <a:solidFill>
              <a:srgbClr val="6B2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080760" y="1691640"/>
            <a:ext cx="5806440" cy="384048"/>
          </a:xfrm>
          <a:prstGeom prst="rect">
            <a:avLst/>
          </a:prstGeom>
          <a:solidFill>
            <a:srgbClr val="6B2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17920" y="173736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🖼️  사용자 가이드 PPT (13슬라이드)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72200" y="2176272"/>
            <a:ext cx="1005840" cy="347472"/>
          </a:xfrm>
          <a:prstGeom prst="rect">
            <a:avLst/>
          </a:prstGeom>
          <a:solidFill>
            <a:srgbClr val="6B2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172200" y="220370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요청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23760" y="220370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"시스템 소개 PPT를 만들어 주세요"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72200" y="2651760"/>
            <a:ext cx="1005840" cy="347472"/>
          </a:xfrm>
          <a:prstGeom prst="rect">
            <a:avLst/>
          </a:prstGeom>
          <a:solidFill>
            <a:srgbClr val="6B2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72200" y="267919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구성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267919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표지 → 목차 → 시스템 소개 → 기능별 상세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72200" y="3127248"/>
            <a:ext cx="1005840" cy="347472"/>
          </a:xfrm>
          <a:prstGeom prst="rect">
            <a:avLst/>
          </a:prstGeom>
          <a:solidFill>
            <a:srgbClr val="6B2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72200" y="315468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기술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223760" y="3154680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python-pptx 라이브러리로 코드 생성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172200" y="3602736"/>
            <a:ext cx="1005840" cy="347472"/>
          </a:xfrm>
          <a:prstGeom prst="rect">
            <a:avLst/>
          </a:prstGeom>
          <a:solidFill>
            <a:srgbClr val="6B2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172200" y="3630168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디자인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3630168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NAVY/BLUE 기업 색상 + COSO 색상 체계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4078224"/>
            <a:ext cx="1005840" cy="347472"/>
          </a:xfrm>
          <a:prstGeom prst="rect">
            <a:avLst/>
          </a:prstGeom>
          <a:solidFill>
            <a:srgbClr val="6B2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172200" y="4105656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포함 내용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223760" y="4105656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대시보드, 위험관리, 통제활동, 운영평가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172200" y="4553712"/>
            <a:ext cx="1005840" cy="347472"/>
          </a:xfrm>
          <a:prstGeom prst="rect">
            <a:avLst/>
          </a:prstGeom>
          <a:solidFill>
            <a:srgbClr val="F0F4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172200" y="4581144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/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23760" y="4581144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발견사항 Kanban, 보고서, 기대효과 슬라이드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172200" y="5029200"/>
            <a:ext cx="1005840" cy="347472"/>
          </a:xfrm>
          <a:prstGeom prst="rect">
            <a:avLst/>
          </a:prstGeom>
          <a:solidFill>
            <a:srgbClr val="6B2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172200" y="5056632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결과물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23760" y="5056632"/>
            <a:ext cx="4480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docs/ITGC_Portal_User_Guide.pptx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20040" y="5760720"/>
            <a:ext cx="1156716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57200" y="58064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E4A"/>
                </a:solidFill>
                <a:latin typeface="맑은 고딕"/>
              </a:rPr>
              <a:t>💡  특징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554480" y="5806440"/>
            <a:ext cx="10149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2E4A"/>
                </a:solidFill>
                <a:latin typeface="맑은 고딕"/>
              </a:rPr>
              <a:t>README와 PPT 모두 단일 요청으로 완성 · make_ppt.py 스크립트로 언제든 재생성 가능 · python-pptx 기반 코드형 문서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05  Phase 4 — 샘플 데이터 구축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  <a:latin typeface="맑은 고딕"/>
              </a:rPr>
              <a:t>2026-03-05 자정 · 커밋: feat: 전체 12개 테이블 샘플 데이터 추가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2011680" cy="32004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PART 1 — 히스토리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11567160" cy="640080"/>
          </a:xfrm>
          <a:prstGeom prst="rect">
            <a:avLst/>
          </a:prstGeom>
          <a:solidFill>
            <a:srgbClr val="FFFFFF"/>
          </a:solidFill>
          <a:ln w="1524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5564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A2E4A"/>
                </a:solidFill>
                <a:latin typeface="맑은 고딕"/>
              </a:rPr>
              <a:t>💬  요청: "모든 테이블에 샘플 데이터 입력하는 SQL 작성해 주세요. 데이터 양은 적당히 넣어주면 됩니다."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2432304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606060"/>
                </a:solidFill>
                <a:latin typeface="맑은 고딕"/>
              </a:rPr>
              <a:t>★ = 이번 Phase에서 신규 추가된 테이블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2743200"/>
            <a:ext cx="3017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0040" y="2743200"/>
            <a:ext cx="109728" cy="512064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7797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4A"/>
                </a:solidFill>
                <a:latin typeface="맑은 고딕"/>
              </a:rPr>
              <a:t>itgc_organization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30175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맑은 고딕"/>
              </a:rPr>
              <a:t>조직·계층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285292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6FC8"/>
                </a:solidFill>
                <a:latin typeface="맑은 고딕"/>
              </a:rPr>
              <a:t>13건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3364992"/>
            <a:ext cx="3017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20040" y="3364992"/>
            <a:ext cx="109728" cy="512064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34015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4A"/>
                </a:solidFill>
                <a:latin typeface="맑은 고딕"/>
              </a:rPr>
              <a:t>itgc_user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36393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맑은 고딕"/>
              </a:rPr>
              <a:t>사용자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80360" y="34747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E6FC8"/>
                </a:solidFill>
                <a:latin typeface="맑은 고딕"/>
              </a:rPr>
              <a:t>11명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86784"/>
            <a:ext cx="3017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3986784"/>
            <a:ext cx="109728" cy="512064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4023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4A"/>
                </a:solidFill>
                <a:latin typeface="맑은 고딕"/>
              </a:rPr>
              <a:t>itgc_risk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42611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맑은 고딕"/>
              </a:rPr>
              <a:t>위험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80360" y="409651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1A"/>
                </a:solidFill>
                <a:latin typeface="맑은 고딕"/>
              </a:rPr>
              <a:t>13건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4608576"/>
            <a:ext cx="3017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20040" y="4608576"/>
            <a:ext cx="109728" cy="512064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46451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4A"/>
                </a:solidFill>
                <a:latin typeface="맑은 고딕"/>
              </a:rPr>
              <a:t>itgc_control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8828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맑은 고딕"/>
              </a:rPr>
              <a:t>통제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880360" y="47183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1A"/>
                </a:solidFill>
                <a:latin typeface="맑은 고딕"/>
              </a:rPr>
              <a:t>14건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0040" y="5230368"/>
            <a:ext cx="3017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20040" y="5230368"/>
            <a:ext cx="109728" cy="512064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52669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4A"/>
                </a:solidFill>
                <a:latin typeface="맑은 고딕"/>
              </a:rPr>
              <a:t>itgc_risk_control_mapping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5046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맑은 고딕"/>
              </a:rPr>
              <a:t>위험-통제 매핑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80360" y="534009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E86A1A"/>
                </a:solidFill>
                <a:latin typeface="맑은 고딕"/>
              </a:rPr>
              <a:t>22건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20040" y="5852160"/>
            <a:ext cx="3017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320040" y="5852160"/>
            <a:ext cx="109728" cy="512064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58887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4A"/>
                </a:solidFill>
                <a:latin typeface="맑은 고딕"/>
              </a:rPr>
              <a:t>itgc_eval_plan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1264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맑은 고딕"/>
              </a:rPr>
              <a:t>평가 계획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80360" y="596188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9E5A"/>
                </a:solidFill>
                <a:latin typeface="맑은 고딕"/>
              </a:rPr>
              <a:t>20건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126480" y="2743200"/>
            <a:ext cx="3017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126480" y="2743200"/>
            <a:ext cx="109728" cy="512064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309360" y="277977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4A"/>
                </a:solidFill>
                <a:latin typeface="맑은 고딕"/>
              </a:rPr>
              <a:t>itgc_eval_sample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09360" y="301752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맑은 고딕"/>
              </a:rPr>
              <a:t>평가 샘플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6800" y="285292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9E5A"/>
                </a:solidFill>
                <a:latin typeface="맑은 고딕"/>
              </a:rPr>
              <a:t>21건 ★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3364992"/>
            <a:ext cx="3017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126480" y="3364992"/>
            <a:ext cx="109728" cy="512064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309360" y="3401568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4A"/>
                </a:solidFill>
                <a:latin typeface="맑은 고딕"/>
              </a:rPr>
              <a:t>itgc_eval_result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309360" y="3639312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맑은 고딕"/>
              </a:rPr>
              <a:t>평가 결과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686800" y="3474720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9E5A"/>
                </a:solidFill>
                <a:latin typeface="맑은 고딕"/>
              </a:rPr>
              <a:t>13건 ★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126480" y="3986784"/>
            <a:ext cx="3017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126480" y="3986784"/>
            <a:ext cx="109728" cy="512064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09360" y="4023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4A"/>
                </a:solidFill>
                <a:latin typeface="맑은 고딕"/>
              </a:rPr>
              <a:t>itgc_finding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309360" y="4261104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맑은 고딕"/>
              </a:rPr>
              <a:t>발견사항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686800" y="4096512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2B2B"/>
                </a:solidFill>
                <a:latin typeface="맑은 고딕"/>
              </a:rPr>
              <a:t>8건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126480" y="4608576"/>
            <a:ext cx="3017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126480" y="4608576"/>
            <a:ext cx="109728" cy="512064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309360" y="464515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4A"/>
                </a:solidFill>
                <a:latin typeface="맑은 고딕"/>
              </a:rPr>
              <a:t>itgc_remediation_history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4882896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맑은 고딕"/>
              </a:rPr>
              <a:t>개선 이력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686800" y="4718304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92B2B"/>
                </a:solidFill>
                <a:latin typeface="맑은 고딕"/>
              </a:rPr>
              <a:t>25건 ★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126480" y="5230368"/>
            <a:ext cx="3017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6B2A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126480" y="5230368"/>
            <a:ext cx="109728" cy="512064"/>
          </a:xfrm>
          <a:prstGeom prst="rect">
            <a:avLst/>
          </a:prstGeom>
          <a:solidFill>
            <a:srgbClr val="6B2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309360" y="5266944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4A"/>
                </a:solidFill>
                <a:latin typeface="맑은 고딕"/>
              </a:rPr>
              <a:t>itgc_report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309360" y="5504688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맑은 고딕"/>
              </a:rPr>
              <a:t>보고서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686800" y="5340096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B2AC8"/>
                </a:solidFill>
                <a:latin typeface="맑은 고딕"/>
              </a:rPr>
              <a:t>7건 ★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126480" y="5852160"/>
            <a:ext cx="3017520" cy="512064"/>
          </a:xfrm>
          <a:prstGeom prst="rect">
            <a:avLst/>
          </a:prstGeom>
          <a:solidFill>
            <a:srgbClr val="FFFFFF"/>
          </a:solidFill>
          <a:ln w="1270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26480" y="5852160"/>
            <a:ext cx="109728" cy="512064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6309360" y="5888736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A2E4A"/>
                </a:solidFill>
                <a:latin typeface="맑은 고딕"/>
              </a:rPr>
              <a:t>itgc_coso_config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309360" y="6126480"/>
            <a:ext cx="1645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606060"/>
                </a:solidFill>
                <a:latin typeface="맑은 고딕"/>
              </a:rPr>
              <a:t>COSO 설정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686800" y="5961888"/>
            <a:ext cx="6400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2E4A"/>
                </a:solidFill>
                <a:latin typeface="맑은 고딕"/>
              </a:rPr>
              <a:t>24건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961120" y="5669280"/>
            <a:ext cx="2926080" cy="960120"/>
          </a:xfrm>
          <a:prstGeom prst="rect">
            <a:avLst/>
          </a:prstGeom>
          <a:solidFill>
            <a:srgbClr val="FFFFFF"/>
          </a:solidFill>
          <a:ln w="1524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8961120" y="5669280"/>
            <a:ext cx="2926080" cy="347472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9098280" y="5705856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🔑  데이터 설계 원칙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098280" y="6080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2E4A"/>
                </a:solidFill>
                <a:latin typeface="맑은 고딕"/>
              </a:rPr>
              <a:t>ON CONFLICT DO NOTHING · FK 서브쿼리 · BEGIN/COMMIT 트랜잭션 · 검증 SELECT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" y="5669280"/>
            <a:ext cx="85039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57200" y="5687568"/>
            <a:ext cx="4572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2E4A"/>
                </a:solidFill>
                <a:latin typeface="맑은 고딕"/>
              </a:rPr>
              <a:t>마지막 확인 쿼리 (적용 결과 검증)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57200" y="6016752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SELECT COUNT(*) FROM 각 테이블 — 12개 테이블 건수를 1개 쿼리로 동시 확인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06  AI 협업 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  <a:latin typeface="맑은 고딕"/>
              </a:rPr>
              <a:t>잘된 점 · 아쉬운 점 · 다음에 개선할 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2011680" cy="32004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PART 2 — 개선 가이드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530352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5303520" cy="384048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👍  잘된 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6030"/>
                </a:solidFill>
                <a:latin typeface="맑은 고딕"/>
              </a:rPr>
              <a:t>✓  단일 요청으로 프론트+백엔드+DB 동시 구현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1460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6030"/>
                </a:solidFill>
                <a:latin typeface="맑은 고딕"/>
              </a:rPr>
              <a:t>✓  COSO 프레임워크를 정확히 반영한 설계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852928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6030"/>
                </a:solidFill>
                <a:latin typeface="맑은 고딕"/>
              </a:rPr>
              <a:t>✓  실무 수준의 코드 품질 (트리거, 인덱스, JWT)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191256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6030"/>
                </a:solidFill>
                <a:latin typeface="맑은 고딕"/>
              </a:rPr>
              <a:t>✓  기술 전환 요청에 신속·정확한 대응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529584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6030"/>
                </a:solidFill>
                <a:latin typeface="맑은 고딕"/>
              </a:rPr>
              <a:t>✓  문서화(README·PPT)도 코드와 동일한 퀄리티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867912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A6030"/>
                </a:solidFill>
                <a:latin typeface="맑은 고딕"/>
              </a:rPr>
              <a:t>✓  커밋 메시지 컨벤션·브랜치 전략 준수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97880" y="1691640"/>
            <a:ext cx="5989320" cy="260604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897880" y="1691640"/>
            <a:ext cx="5989320" cy="384048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35040" y="1737360"/>
            <a:ext cx="5669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🔶  아쉬운 점 / 추가 커뮤니케이션이 필요했던 부분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89320" y="2176272"/>
            <a:ext cx="73152" cy="4114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2176272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A1A"/>
                </a:solidFill>
                <a:latin typeface="맑은 고딕"/>
              </a:rPr>
              <a:t>기술 스택 미리 확정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377440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4A"/>
                </a:solidFill>
                <a:latin typeface="맑은 고딕"/>
              </a:rPr>
              <a:t>최초 요청 시 JPA vs MyBatis, H2 vs PostgreSQL을
명시하지 않아 추후 기술 전환이 필요했음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89320" y="2706624"/>
            <a:ext cx="73152" cy="4114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2706624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A1A"/>
                </a:solidFill>
                <a:latin typeface="맑은 고딕"/>
              </a:rPr>
              <a:t>샘플 데이터 범위 불명확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907792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4A"/>
                </a:solidFill>
                <a:latin typeface="맑은 고딕"/>
              </a:rPr>
              <a:t>"적당히"라는 표현 대신 테이블별 건수,
기간 범위, 필수 시나리오를 사전에 정의했다면 효율적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3236976"/>
            <a:ext cx="73152" cy="4114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26480" y="3236976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A1A"/>
                </a:solidFill>
                <a:latin typeface="맑은 고딕"/>
              </a:rPr>
              <a:t>단계별 확인 누락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26480" y="3438144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4A"/>
                </a:solidFill>
                <a:latin typeface="맑은 고딕"/>
              </a:rPr>
              <a:t>기능 구현 후 동작 확인·테스트 결과 공유가
이루어지지 않아 실제 오류 여부 미검증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89320" y="3767327"/>
            <a:ext cx="73152" cy="4114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767327"/>
            <a:ext cx="21031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A1A"/>
                </a:solidFill>
                <a:latin typeface="맑은 고딕"/>
              </a:rPr>
              <a:t>비기능 요건 미명시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80" y="3968496"/>
            <a:ext cx="56692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4A"/>
                </a:solidFill>
                <a:latin typeface="맑은 고딕"/>
              </a:rPr>
              <a:t>성능(응답시간), 보안(패스워드 정책), 로깅,
에러 처리 기준이 사전에 합의되지 않음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4480560"/>
            <a:ext cx="11567160" cy="2148840"/>
          </a:xfrm>
          <a:prstGeom prst="rect">
            <a:avLst/>
          </a:prstGeom>
          <a:solidFill>
            <a:srgbClr val="FFFFFF"/>
          </a:solidFill>
          <a:ln w="19050">
            <a:solidFill>
              <a:srgbClr val="1A2E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20040" y="4480560"/>
            <a:ext cx="11567160" cy="384048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4526280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💡  핵심 교훈 — 처음 요청할 때 이것만 정리해도 대화 횟수가 절반으로 줄어든다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56048"/>
            <a:ext cx="822960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49834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①  기술 스택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325880" y="49834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언어/프레임워크/DB/빌드 도구 버전까지 명시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5029200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6FC8"/>
                </a:solidFill>
                <a:latin typeface="맑은 고딕"/>
              </a:rPr>
              <a:t>→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364992" y="4956048"/>
            <a:ext cx="822960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364992" y="49834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②  기능 범위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33672" y="49834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포함 기능 목록 + 제외 기능 목록 동시 제시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99632" y="5029200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6FC8"/>
                </a:solidFill>
                <a:latin typeface="맑은 고딕"/>
              </a:rPr>
              <a:t>→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272784" y="4956048"/>
            <a:ext cx="822960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72784" y="49834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③  데이터 기준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41464" y="49834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샘플 건수, 기간, 필수 포함 시나리오 지정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07424" y="5029200"/>
            <a:ext cx="1828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E6FC8"/>
                </a:solidFill>
                <a:latin typeface="맑은 고딕"/>
              </a:rPr>
              <a:t>→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80576" y="4956048"/>
            <a:ext cx="822960" cy="3200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0576" y="4983480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맑은 고딕"/>
              </a:rPr>
              <a:t>④  산출물 형식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049256" y="4983480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파일 경로, 파일명 규칙, 코드 컨벤션 사전 합의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07  향후 대화 방법 가이드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  <a:latin typeface="맑은 고딕"/>
              </a:rPr>
              <a:t>효율적인 AI 협업을 위한 요청 원칙 &amp; 황금 템플릿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2011680" cy="32004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PART 2 — 개선 가이드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" y="1691640"/>
            <a:ext cx="557784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20040" y="1691640"/>
            <a:ext cx="5577840" cy="384048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📝  황금 요청 템플릿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176272"/>
            <a:ext cx="5394960" cy="25603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" y="2203703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9E5A"/>
                </a:solidFill>
                <a:latin typeface="맑은 고딕"/>
              </a:rPr>
              <a:t>🎯  목적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2450591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무엇을 만들고 싶은가? (한 문장으로)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044951"/>
            <a:ext cx="5394960" cy="25603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" y="3072383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9E5A"/>
                </a:solidFill>
                <a:latin typeface="맑은 고딕"/>
              </a:rPr>
              <a:t>🛠  기술 스택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319271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FE: Vue 3 + DevExtreme
BE: Spring Boot 3.2 + MyBatis + HikariCP
DB: PostgreSQL 14
빌드: Vite / Maven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3913631"/>
            <a:ext cx="5394960" cy="25603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" y="3941063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9E5A"/>
                </a:solidFill>
                <a:latin typeface="맑은 고딕"/>
              </a:rPr>
              <a:t>📋  기능 범위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4187951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포함: 기능 A, B, C
제외: 기능 D, E (추후 개발)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4782312"/>
            <a:ext cx="5394960" cy="25603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" y="480974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9E5A"/>
                </a:solidFill>
                <a:latin typeface="맑은 고딕"/>
              </a:rPr>
              <a:t>📐  산출물 기준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056631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파일 경로: src/views/...
코딩 컨벤션: camelCase
커밋 메시지 형식: feat/fix/docs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5650992"/>
            <a:ext cx="5394960" cy="256032"/>
          </a:xfrm>
          <a:prstGeom prst="rect">
            <a:avLst/>
          </a:prstGeom>
          <a:solidFill>
            <a:srgbClr val="E8F8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8912" y="5678424"/>
            <a:ext cx="53035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9E5A"/>
                </a:solidFill>
                <a:latin typeface="맑은 고딕"/>
              </a:rPr>
              <a:t>✅  완료 기준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92531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어떤 상태가 되면 완료인가?
(예: npm run dev 실행 시 화면 정상 출력)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1691640"/>
            <a:ext cx="5715000" cy="4846320"/>
          </a:xfrm>
          <a:prstGeom prst="rect">
            <a:avLst/>
          </a:prstGeom>
          <a:solidFill>
            <a:srgbClr val="FFFFFF"/>
          </a:solidFill>
          <a:ln w="19050">
            <a:solidFill>
              <a:srgbClr val="1E6F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72200" y="1691640"/>
            <a:ext cx="5715000" cy="38404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09360" y="1737360"/>
            <a:ext cx="5394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맑은 고딕"/>
              </a:rPr>
              <a:t>⚡  효율적 AI 협업 5원칙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263640" y="2176272"/>
            <a:ext cx="320040" cy="86868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29400" y="21762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E6FC8"/>
                </a:solidFill>
                <a:latin typeface="맑은 고딕"/>
              </a:rPr>
              <a:t>1. 컨텍스트 먼저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29400" y="2450591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4A"/>
                </a:solidFill>
                <a:latin typeface="맑은 고딕"/>
              </a:rPr>
              <a:t>목적, 사용자, 제약사항을 첫 메시지에 모두 담는다.
"ITGC 포털 개발" → "5개 그룹사 내부감사팀이 사용할
 COSO 기반 ITGC 포털, Spring Boot + Vue 3"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63640" y="3090672"/>
            <a:ext cx="320040" cy="86868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629400" y="30906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9E5A"/>
                </a:solidFill>
                <a:latin typeface="맑은 고딕"/>
              </a:rPr>
              <a:t>2. 구체적 완료 기준 제시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29400" y="3364991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4A"/>
                </a:solidFill>
                <a:latin typeface="맑은 고딕"/>
              </a:rPr>
              <a:t>"적당히"가 아닌 수치 기준을 제시한다.
"샘플 데이터 적당히" → "테이블당 5~25건, 2025 Q3
 ~ 2026 Q2 기간, 완료/진행중/예정 상태 혼합"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63640" y="4005072"/>
            <a:ext cx="320040" cy="868680"/>
          </a:xfrm>
          <a:prstGeom prst="rect">
            <a:avLst/>
          </a:prstGeom>
          <a:solidFill>
            <a:srgbClr val="E86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29400" y="40050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6A1A"/>
                </a:solidFill>
                <a:latin typeface="맑은 고딕"/>
              </a:rPr>
              <a:t>3. 단계별 확인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427939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4A"/>
                </a:solidFill>
                <a:latin typeface="맑은 고딕"/>
              </a:rPr>
              <a:t>큰 기능을 한 번에 요청하지 말고 단계를 나눈다.
DB 스키마 → 백엔드 API → 프론트엔드 순으로
각 단계 완료 후 동작 확인 후 다음 단계 진행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263640" y="4919472"/>
            <a:ext cx="320040" cy="868680"/>
          </a:xfrm>
          <a:prstGeom prst="rect">
            <a:avLst/>
          </a:prstGeom>
          <a:solidFill>
            <a:srgbClr val="6B2A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29400" y="49194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2AC8"/>
                </a:solidFill>
                <a:latin typeface="맑은 고딕"/>
              </a:rPr>
              <a:t>4. 제약사항 명시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519379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4A"/>
                </a:solidFill>
                <a:latin typeface="맑은 고딕"/>
              </a:rPr>
              <a:t>하면 안 되는 것을 미리 알려준다.
"의존성 추가 금지", "파일 삭제 금지",
 "기존 API 시그니처 유지" 등을 첫 메시지에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63640" y="5833872"/>
            <a:ext cx="320040" cy="868680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629400" y="5833872"/>
            <a:ext cx="5120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D92B2B"/>
                </a:solidFill>
                <a:latin typeface="맑은 고딕"/>
              </a:rPr>
              <a:t>5. 산출물 형식 지정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29400" y="6108192"/>
            <a:ext cx="5120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2E4A"/>
                </a:solidFill>
                <a:latin typeface="맑은 고딕"/>
              </a:rPr>
              <a:t>파일 경로, 파일명, 코드 스타일을 명시한다.
"docs/ 폴더에 make_XXX.py 스크립트로 생성",
 "한글 주석, 영문 변수명, 들여쓰기 4칸"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1A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맑은 고딕"/>
              </a:rPr>
              <a:t>08  추천 대화 시나리오 예시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49808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8C8F0"/>
                </a:solidFill>
                <a:latin typeface="맑은 고딕"/>
              </a:rPr>
              <a:t>이렇게 요청했더라면 — Before &amp; After 비교</a:t>
            </a:r>
          </a:p>
        </p:txBody>
      </p:sp>
      <p:sp>
        <p:nvSpPr>
          <p:cNvPr id="5" name="Rectangle 4"/>
          <p:cNvSpPr/>
          <p:nvPr/>
        </p:nvSpPr>
        <p:spPr>
          <a:xfrm>
            <a:off x="320040" y="1389888"/>
            <a:ext cx="2011680" cy="32004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141732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맑은 고딕"/>
              </a:rPr>
              <a:t>PART 2 — 개선 가이드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417320"/>
            <a:ext cx="1156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  <a:latin typeface="맑은 고딕"/>
              </a:rPr>
              <a:t>Phase 1 — 최초 구축 요청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783080"/>
            <a:ext cx="57150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E86A1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783080"/>
            <a:ext cx="5715000" cy="347472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19656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❌  AS-IS (실제 요청)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194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"그룹사 ITGC 포털을 만들어 주세요"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72200" y="1783080"/>
            <a:ext cx="5715000" cy="2331720"/>
          </a:xfrm>
          <a:prstGeom prst="rect">
            <a:avLst/>
          </a:prstGeom>
          <a:solidFill>
            <a:srgbClr val="FFFFFF"/>
          </a:solidFill>
          <a:ln w="1905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72200" y="1783080"/>
            <a:ext cx="5715000" cy="347472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819656"/>
            <a:ext cx="5532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맑은 고딕"/>
              </a:rPr>
              <a:t>✅  TO-BE (개선된 요청)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194560"/>
            <a:ext cx="5486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"그룹사 ITGC 포털을 구축해 주세요.
• 기술: Vue 3 + DevExtreme + Spring Boot 3.2 + MyBatis + PostgreSQL 14
• 기능: COSO 5개 구성요소 (위험관리/통제활동/운영평가/발견사항/보고서)
• 조직: 최대 4개 그룹사, 7개 부서 지원
• 역할: ADMIN / LEAD / AUDITOR / OWNER / VIEWER
• 완료 기준: npm run dev + mvn spring-boot:run 정상 동작"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4206240"/>
            <a:ext cx="11567160" cy="54864"/>
          </a:xfrm>
          <a:prstGeom prst="rect">
            <a:avLst/>
          </a:prstGeom>
          <a:solidFill>
            <a:srgbClr val="E8EC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343400"/>
            <a:ext cx="11567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2E4A"/>
                </a:solidFill>
                <a:latin typeface="맑은 고딕"/>
              </a:rPr>
              <a:t>Phase 4 — 샘플 데이터 요청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4709160"/>
            <a:ext cx="57150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92B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4709160"/>
            <a:ext cx="5715000" cy="320040"/>
          </a:xfrm>
          <a:prstGeom prst="rect">
            <a:avLst/>
          </a:prstGeom>
          <a:solidFill>
            <a:srgbClr val="D92B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4736592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❌  AS-IS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093208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"모든 테이블에 샘플 데이터 입력하는 SQL 작성해주세요.
 데이터 양은 적당히 넣어주면 됩니다."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72200" y="4709160"/>
            <a:ext cx="5715000" cy="1783080"/>
          </a:xfrm>
          <a:prstGeom prst="rect">
            <a:avLst/>
          </a:prstGeom>
          <a:solidFill>
            <a:srgbClr val="FFFFFF"/>
          </a:solidFill>
          <a:ln w="19050">
            <a:solidFill>
              <a:srgbClr val="1A9E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72200" y="4709160"/>
            <a:ext cx="5715000" cy="320040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09360" y="4736592"/>
            <a:ext cx="55321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맑은 고딕"/>
              </a:rPr>
              <a:t>✅  TO-BE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5093208"/>
            <a:ext cx="5486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2E4A"/>
                </a:solidFill>
                <a:latin typeface="맑은 고딕"/>
              </a:rPr>
              <a:t>"12개 테이블 전체 샘플 DML SQL을 작성해 주세요.
• 건수: 마스터 테이블 10~15건, 트랜잭션 테이블 20~30건
• 기간: 2025 Q3 ~ 2026 Q1 (완료) + 2026 Q2 (예정)
• 상태: 완료/진행중/예정/기한초과 모두 포함
• 파일: db/dml/03_insert_sample_data.sql, ON CONFLICT DO NOTHING"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2E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686800" y="0"/>
            <a:ext cx="3502152" cy="6858000"/>
          </a:xfrm>
          <a:prstGeom prst="rect">
            <a:avLst/>
          </a:prstGeom>
          <a:solidFill>
            <a:srgbClr val="12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281160" y="0"/>
            <a:ext cx="73152" cy="6858000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371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0" i="0">
                <a:solidFill>
                  <a:srgbClr val="1E6FC8"/>
                </a:solidFill>
                <a:latin typeface="맑은 고딕"/>
              </a:rPr>
              <a:t>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맑은 고딕"/>
              </a:rPr>
              <a:t>구축 과정 정리 완료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3337560"/>
            <a:ext cx="4572000" cy="6400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520440"/>
            <a:ext cx="7315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C0D8F0"/>
                </a:solidFill>
                <a:latin typeface="맑은 고딕"/>
              </a:rPr>
              <a:t>ITGC 포털은 단 하루 만에
Claude와의 5단계 대화로 완성되었습니다.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4572000"/>
            <a:ext cx="7132320" cy="841248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4572000"/>
            <a:ext cx="1188720" cy="841248"/>
          </a:xfrm>
          <a:prstGeom prst="rect">
            <a:avLst/>
          </a:prstGeom>
          <a:solidFill>
            <a:srgbClr val="1E6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482803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PART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65960" y="4636008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히스토리 요약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4956048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D8F0"/>
                </a:solidFill>
                <a:latin typeface="맑은 고딕"/>
              </a:rPr>
              <a:t>최초 구축 → 기술 전환 → 문서화 → 샘플 데이터 → 과정 정리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532120"/>
            <a:ext cx="7132320" cy="841248"/>
          </a:xfrm>
          <a:prstGeom prst="rect">
            <a:avLst/>
          </a:prstGeom>
          <a:solidFill>
            <a:srgbClr val="1428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532120"/>
            <a:ext cx="1188720" cy="841248"/>
          </a:xfrm>
          <a:prstGeom prst="rect">
            <a:avLst/>
          </a:prstGeom>
          <a:solidFill>
            <a:srgbClr val="1A9E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5788152"/>
            <a:ext cx="1188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맑은 고딕"/>
              </a:rPr>
              <a:t>PART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65960" y="5596128"/>
            <a:ext cx="5760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맑은 고딕"/>
              </a:rPr>
              <a:t>개선 가이드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65960" y="5916168"/>
            <a:ext cx="57607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0D8F0"/>
                </a:solidFill>
                <a:latin typeface="맑은 고딕"/>
              </a:rPr>
              <a:t>기술 스택·완료 기준·데이터 기준을 첫 메시지에 명시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109728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E6FC8"/>
                </a:solidFill>
                <a:latin typeface="맑은 고딕"/>
              </a:rPr>
              <a:t>Phase별 커밋 요약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35440" y="160020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✓  Phase 1: COSO 포털 전체 구현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35440" y="2258568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✓  Phase 2: PostgreSQL + MyBatis 전환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35440" y="2916936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✓  Phase 3: README + 사용자 가이드 PPT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35440" y="3575304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맑은 고딕"/>
              </a:rPr>
              <a:t>✓  Phase 4: 12개 테이블 샘플 데이터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4233672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E6FC8"/>
                </a:solidFill>
                <a:latin typeface="맑은 고딕"/>
              </a:rPr>
              <a:t>→  Phase 5: 구축 과정 정리 PPT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